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🫁 Clinical Breath Analysis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Portable Respiratory Assessment System</a:t>
            </a:r>
          </a:p>
          <a:p>
            <a:r>
              <a:t>Analysis Date: 2025-10-13 12:19:44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Analysis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Metrics:</a:t>
            </a:r>
          </a:p>
          <a:p>
            <a:r>
              <a:t>• Total Samples: 60,000</a:t>
            </a:r>
          </a:p>
          <a:p>
            <a:r>
              <a:t>• Test Duration: 60.0 seconds</a:t>
            </a:r>
          </a:p>
          <a:p>
            <a:r>
              <a:t>• Breathing Rate: 21.0 breaths/min</a:t>
            </a:r>
          </a:p>
          <a:p/>
          <a:p>
            <a:r>
              <a:t>Tidal Volume Analysis:</a:t>
            </a:r>
          </a:p>
          <a:p>
            <a:r>
              <a:t>• Measured Average: 422.5 mL</a:t>
            </a:r>
          </a:p>
          <a:p>
            <a:r>
              <a:t>• Expected for RR=21.0: 422.5 mL</a:t>
            </a:r>
          </a:p>
          <a:p>
            <a:r>
              <a:t>• Accuracy: 1.00x expected (✅ Good)</a:t>
            </a:r>
          </a:p>
          <a:p/>
          <a:p>
            <a:r>
              <a:t>Lung Function:</a:t>
            </a:r>
          </a:p>
          <a:p>
            <a:r>
              <a:t>• FVC: 3.87 L</a:t>
            </a:r>
          </a:p>
          <a:p>
            <a:r>
              <a:t>• FEV1: 2.91 L</a:t>
            </a:r>
          </a:p>
          <a:p>
            <a:r>
              <a:t>• FEV1/FVC Ratio: 75.0%</a:t>
            </a:r>
          </a:p>
          <a:p>
            <a:r>
              <a:t>• Average Exhalation Volume: 338.00 mL</a:t>
            </a:r>
          </a:p>
          <a:p>
            <a:r>
              <a:t>• Shannon Entropy: 4.959</a:t>
            </a:r>
          </a:p>
          <a:p/>
          <a:p>
            <a:r>
              <a:t>Clinical Assessment:</a:t>
            </a:r>
          </a:p>
          <a:p>
            <a:r>
              <a:t>• Signal Quality: ⚠️ Low variation</a:t>
            </a:r>
          </a:p>
          <a:p>
            <a:r>
              <a:t>• Respiratory Status: ⚠️ Abnormal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⚕️ Respiratory Rate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Current Respiratory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21.0 breaths/min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ABNORMAL - Outside Normal Range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Recommendation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Clinical evaluation recommended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Normal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12-20 breaths/min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🫁 Tidal Volume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Measured Tidal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422.5 mL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Expected for RR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422.5 mL (for 21.0 bpm)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Accuracy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1.00x expected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Assessment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Matches Expected RR-TV Relationship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Clinical Concern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🔬 Lung Function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87828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FVC (Forced Vital Capacity)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3.87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 (1-sec volume)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2.91 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FEV1/FVC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75.0%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Average Exhalation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338.00 mL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t>Lung Function 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✅ Normal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t>Normal FEV1/FVC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≥ 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Quality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685800">
                <a:tc>
                  <a:txBody>
                    <a:bodyPr/>
                    <a:lstStyle/>
                    <a:p>
                      <a:r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Value/Assessment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Power Variation (CV)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Shannon 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4.959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Signal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⚠️ Low signal variation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Raw vs Filtered Signal</a:t>
            </a:r>
          </a:p>
        </p:txBody>
      </p:sp>
      <p:pic>
        <p:nvPicPr>
          <p:cNvPr id="3" name="Picture 2" descr="Data_KP_0.2_1_C1_Static_T1_bc09002c_raw_filtered_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Custom Peak Detection</a:t>
            </a:r>
          </a:p>
        </p:txBody>
      </p:sp>
      <p:pic>
        <p:nvPicPr>
          <p:cNvPr id="3" name="Picture 2" descr="Data_KP_0.2_1_C1_Static_T1_bc09002c_custom_peaks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Signal Processing: Frequency Domain Analysis</a:t>
            </a:r>
          </a:p>
        </p:txBody>
      </p:sp>
      <p:pic>
        <p:nvPicPr>
          <p:cNvPr id="3" name="Picture 2" descr="Data_KP_0.2_1_C1_Static_T1_bc09002c_frequenc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Clinical Paper Analysis</a:t>
            </a:r>
          </a:p>
        </p:txBody>
      </p:sp>
      <p:pic>
        <p:nvPicPr>
          <p:cNvPr id="3" name="Picture 2" descr="Data_KP_0.2_1_C1_Static_T1_bc09002c_clinical_paper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Individual Breathing Cycles</a:t>
            </a:r>
          </a:p>
        </p:txBody>
      </p:sp>
      <p:pic>
        <p:nvPicPr>
          <p:cNvPr id="3" name="Picture 2" descr="Data_KP_0.2_1_C1_Static_T1_bc09002c_breathing_cyc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Breath Analysis: Comprehensive Quality Metrics</a:t>
            </a:r>
          </a:p>
        </p:txBody>
      </p:sp>
      <p:pic>
        <p:nvPicPr>
          <p:cNvPr id="3" name="Picture 2" descr="Data_KP_0.2_1_C1_Static_T1_bc09002c_breath_quality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Shannon Entropy</a:t>
            </a:r>
          </a:p>
        </p:txBody>
      </p:sp>
      <p:pic>
        <p:nvPicPr>
          <p:cNvPr id="3" name="Picture 2" descr="Data_KP_0.2_1_C1_Static_T1_bc09002c_rolling_shannon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Rolling Entropy</a:t>
            </a:r>
          </a:p>
        </p:txBody>
      </p:sp>
      <p:pic>
        <p:nvPicPr>
          <p:cNvPr id="3" name="Picture 2" descr="Data_KP_0.2_1_C1_Static_T1_bc09002c_rolling_entr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Entropy Analysis: Highlighted High Entropy</a:t>
            </a:r>
          </a:p>
        </p:txBody>
      </p:sp>
      <p:pic>
        <p:nvPicPr>
          <p:cNvPr id="3" name="Picture 2" descr="Data_KP_0.2_1_C1_Static_T1_bc09002c_high_entropy_segment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PCA Components Over Time</a:t>
            </a:r>
          </a:p>
        </p:txBody>
      </p:sp>
      <p:pic>
        <p:nvPicPr>
          <p:cNvPr id="3" name="Picture 2" descr="Data_KP_0.2_1_C1_Static_T1_bc09002c_pca_components_over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PC1 vs PC2 Scatter</a:t>
            </a:r>
          </a:p>
        </p:txBody>
      </p:sp>
      <p:pic>
        <p:nvPicPr>
          <p:cNvPr id="3" name="Picture 2" descr="Data_KP_0.2_1_C1_Static_T1_bc09002c_pc1_vs_p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K-Means on PCA</a:t>
            </a:r>
          </a:p>
        </p:txBody>
      </p:sp>
      <p:pic>
        <p:nvPicPr>
          <p:cNvPr id="3" name="Picture 2" descr="Data_KP_0.2_1_C1_Static_T1_bc09002c_kmean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PCA &amp; Clustering: ML Feature Importance</a:t>
            </a:r>
          </a:p>
        </p:txBody>
      </p:sp>
      <p:pic>
        <p:nvPicPr>
          <p:cNvPr id="3" name="Picture 2" descr="Data_KP_0.2_1_C1_Static_T1_bc09002c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📋 Clinical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Analysis Results:</a:t>
            </a:r>
          </a:p>
          <a:p/>
          <a:p>
            <a:r>
              <a:t>Immediate Actions:</a:t>
            </a:r>
          </a:p>
          <a:p>
            <a:r>
              <a:t>• Clinical evaluation recommended</a:t>
            </a:r>
          </a:p>
          <a:p>
            <a:r>
              <a:t>• Review spirometry results</a:t>
            </a:r>
          </a:p>
          <a:p>
            <a:r>
              <a:t>• Monitor trend over time</a:t>
            </a:r>
          </a:p>
          <a:p/>
          <a:p>
            <a:r>
              <a:t>Follow-up:</a:t>
            </a:r>
          </a:p>
          <a:p>
            <a:r>
              <a:t>• Medical evaluation within 24-48 hours</a:t>
            </a:r>
          </a:p>
          <a:p>
            <a:r>
              <a:t>• Repeat assessment in 1 week</a:t>
            </a:r>
          </a:p>
          <a:p/>
          <a:p>
            <a:r>
              <a:t>Notes:</a:t>
            </a:r>
          </a:p>
          <a:p>
            <a:r>
              <a:t>• This portable breath analyzer provides preliminary assessment</a:t>
            </a:r>
          </a:p>
          <a:p>
            <a:r>
              <a:t>• Clinical correlation and standard spirometry recommended for diagnosis</a:t>
            </a:r>
          </a:p>
          <a:p>
            <a:r>
              <a:t>• Results should be interpreted by qualified healthcare professional</a:t>
            </a:r>
          </a:p>
          <a:p>
            <a:r>
              <a:t>  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