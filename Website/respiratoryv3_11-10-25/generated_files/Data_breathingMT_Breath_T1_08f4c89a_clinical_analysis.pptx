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🫁 Clinical Breath Analysis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Portable Respiratory Assessment System</a:t>
            </a:r>
          </a:p>
          <a:p>
            <a:r>
              <a:t>Analysis Date: 2025-10-13 12:09:42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Analysis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Metrics:</a:t>
            </a:r>
          </a:p>
          <a:p>
            <a:r>
              <a:t>• Total Samples: 30,000</a:t>
            </a:r>
          </a:p>
          <a:p>
            <a:r>
              <a:t>• Test Duration: 30.0 seconds</a:t>
            </a:r>
          </a:p>
          <a:p>
            <a:r>
              <a:t>• Breathing Rate: 30.0 breaths/min</a:t>
            </a:r>
          </a:p>
          <a:p/>
          <a:p>
            <a:r>
              <a:t>Tidal Volume Analysis:</a:t>
            </a:r>
          </a:p>
          <a:p>
            <a:r>
              <a:t>• Measured Average: 325.0 mL</a:t>
            </a:r>
          </a:p>
          <a:p>
            <a:r>
              <a:t>• Expected for RR=30.0: 325.0 mL</a:t>
            </a:r>
          </a:p>
          <a:p>
            <a:r>
              <a:t>• Accuracy: 1.00x expected (✅ Good)</a:t>
            </a:r>
          </a:p>
          <a:p/>
          <a:p>
            <a:r>
              <a:t>Lung Function:</a:t>
            </a:r>
          </a:p>
          <a:p>
            <a:r>
              <a:t>• FVC: 3.65 L</a:t>
            </a:r>
          </a:p>
          <a:p>
            <a:r>
              <a:t>• FEV1: 2.74 L</a:t>
            </a:r>
          </a:p>
          <a:p>
            <a:r>
              <a:t>• FEV1/FVC Ratio: 75.0%</a:t>
            </a:r>
          </a:p>
          <a:p>
            <a:r>
              <a:t>• Average Exhalation Volume: 259.99 mL</a:t>
            </a:r>
          </a:p>
          <a:p>
            <a:r>
              <a:t>• Shannon Entropy: 5.511</a:t>
            </a:r>
          </a:p>
          <a:p/>
          <a:p>
            <a:r>
              <a:t>Clinical Assessment:</a:t>
            </a:r>
          </a:p>
          <a:p>
            <a:r>
              <a:t>• Signal Quality: ⚠️ Low variation</a:t>
            </a:r>
          </a:p>
          <a:p>
            <a:r>
              <a:t>• Respiratory Status: 🚨 Critical</a:t>
            </a:r>
          </a:p>
          <a:p>
            <a:r>
              <a:t>    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⚕️ Respiratory Rate Assessment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0960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Value/Assessment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Current Respiratory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30.0 breaths/min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Clinical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🚨 CRITICAL - Pneumonia Risk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Risk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Critical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Recommendation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Immediate clinical evaluation recommended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Normal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12-20 breaths/min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🫁 Tidal Volume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0960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Value/Assessment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Measured Tidal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325.0 mL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Expected for 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325.0 mL (for 30.0 bpm)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Accuracy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1.00x expected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Matches Expected RR-TV Relationship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Clinical Concern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None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🔬 Lung Function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87828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Value/Assessment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FVC (Forced Vital Capacity)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3.65 L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FEV1 (1-sec volume)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2.74 L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FEV1/FVC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75.0%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Average Exhalation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259.99 mL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Lung Function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Normal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r>
                        <a:t>Normal FEV1/FVC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≥ 70%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Signal Quality Assessment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8580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Value/Assessment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Power Variation (CV)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Shannon Entropy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5.511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Signal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⚠️ Low signal variation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Signal Processing: Raw vs Filtered Signal</a:t>
            </a:r>
          </a:p>
        </p:txBody>
      </p:sp>
      <p:pic>
        <p:nvPicPr>
          <p:cNvPr id="3" name="Picture 2" descr="Data_breathingMT_Breath_T1_08f4c89a_raw_filtered_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Signal Processing: Custom Peak Detection</a:t>
            </a:r>
          </a:p>
        </p:txBody>
      </p:sp>
      <p:pic>
        <p:nvPicPr>
          <p:cNvPr id="3" name="Picture 2" descr="Data_breathingMT_Breath_T1_08f4c89a_custom_peaks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Signal Processing: Frequency Domain Analysis</a:t>
            </a:r>
          </a:p>
        </p:txBody>
      </p:sp>
      <p:pic>
        <p:nvPicPr>
          <p:cNvPr id="3" name="Picture 2" descr="Data_breathingMT_Breath_T1_08f4c89a_frequenc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Breath Analysis: Clinical Paper Analysis</a:t>
            </a:r>
          </a:p>
        </p:txBody>
      </p:sp>
      <p:pic>
        <p:nvPicPr>
          <p:cNvPr id="3" name="Picture 2" descr="Data_breathingMT_Breath_T1_08f4c89a_clinical_paper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Breath Analysis: Individual Breathing Cycles</a:t>
            </a:r>
          </a:p>
        </p:txBody>
      </p:sp>
      <p:pic>
        <p:nvPicPr>
          <p:cNvPr id="3" name="Picture 2" descr="Data_breathingMT_Breath_T1_08f4c89a_breathing_cyc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Breath Analysis: Comprehensive Quality Metrics</a:t>
            </a:r>
          </a:p>
        </p:txBody>
      </p:sp>
      <p:pic>
        <p:nvPicPr>
          <p:cNvPr id="3" name="Picture 2" descr="Data_breathingMT_Breath_T1_08f4c89a_breath_quality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Entropy Analysis: Rolling Shannon Entropy</a:t>
            </a:r>
          </a:p>
        </p:txBody>
      </p:sp>
      <p:pic>
        <p:nvPicPr>
          <p:cNvPr id="3" name="Picture 2" descr="Data_breathingMT_Breath_T1_08f4c89a_rolling_shannon_entr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Entropy Analysis: Rolling Entropy</a:t>
            </a:r>
          </a:p>
        </p:txBody>
      </p:sp>
      <p:pic>
        <p:nvPicPr>
          <p:cNvPr id="3" name="Picture 2" descr="Data_breathingMT_Breath_T1_08f4c89a_rolling_entr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Entropy Analysis: Highlighted High Entropy</a:t>
            </a:r>
          </a:p>
        </p:txBody>
      </p:sp>
      <p:pic>
        <p:nvPicPr>
          <p:cNvPr id="3" name="Picture 2" descr="Data_breathingMT_Breath_T1_08f4c89a_high_entropy_segments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PCA &amp; Clustering: PCA Components Over Time</a:t>
            </a:r>
          </a:p>
        </p:txBody>
      </p:sp>
      <p:pic>
        <p:nvPicPr>
          <p:cNvPr id="3" name="Picture 2" descr="Data_breathingMT_Breath_T1_08f4c89a_pca_components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PCA &amp; Clustering: PC1 vs PC2 Scatter</a:t>
            </a:r>
          </a:p>
        </p:txBody>
      </p:sp>
      <p:pic>
        <p:nvPicPr>
          <p:cNvPr id="3" name="Picture 2" descr="Data_breathingMT_Breath_T1_08f4c89a_pc1_vs_p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PCA &amp; Clustering: K-Means on PCA</a:t>
            </a:r>
          </a:p>
        </p:txBody>
      </p:sp>
      <p:pic>
        <p:nvPicPr>
          <p:cNvPr id="3" name="Picture 2" descr="Data_breathingMT_Breath_T1_08f4c89a_kmeans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PCA &amp; Clustering: ML Feature Importance</a:t>
            </a:r>
          </a:p>
        </p:txBody>
      </p:sp>
      <p:pic>
        <p:nvPicPr>
          <p:cNvPr id="3" name="Picture 2" descr="Data_breathingMT_Breath_T1_08f4c89a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📋 Clinical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Analysis Results:</a:t>
            </a:r>
          </a:p>
          <a:p/>
          <a:p>
            <a:r>
              <a:t>Immediate Actions:</a:t>
            </a:r>
          </a:p>
          <a:p>
            <a:r>
              <a:t>• Immediate clinical evaluation recommended</a:t>
            </a:r>
          </a:p>
          <a:p>
            <a:r>
              <a:t>• Review spirometry results</a:t>
            </a:r>
          </a:p>
          <a:p>
            <a:r>
              <a:t>• Monitor trend over time</a:t>
            </a:r>
          </a:p>
          <a:p/>
          <a:p>
            <a:r>
              <a:t>Follow-up:</a:t>
            </a:r>
          </a:p>
          <a:p>
            <a:r>
              <a:t>• Urgent medical attention needed</a:t>
            </a:r>
          </a:p>
          <a:p>
            <a:r>
              <a:t>• Repeat assessment in 1-2 hours</a:t>
            </a:r>
          </a:p>
          <a:p/>
          <a:p>
            <a:r>
              <a:t>Notes:</a:t>
            </a:r>
          </a:p>
          <a:p>
            <a:r>
              <a:t>• This portable breath analyzer provides preliminary assessment</a:t>
            </a:r>
          </a:p>
          <a:p>
            <a:r>
              <a:t>• Clinical correlation and standard spirometry recommended for diagnosis</a:t>
            </a:r>
          </a:p>
          <a:p>
            <a:r>
              <a:t>• Results should be interpreted by qualified healthcare professional</a:t>
            </a:r>
          </a:p>
          <a:p>
            <a:r>
              <a:t>    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